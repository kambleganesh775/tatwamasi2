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98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2E7D5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1828800"/>
            <a:ext cx="2560320" cy="2560320"/>
          </a:xfrm>
          <a:prstGeom prst="ellipse">
            <a:avLst/>
          </a:prstGeom>
          <a:solidFill>
            <a:srgbClr val="52B788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solidFill>
            <a:srgbClr val="F2A8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</a:rPr>
              <a:t>INVESTOR DECK 2026</a:t>
            </a:r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Tatwamasi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i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To The World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bringing about the change we want to see in the world—and then don't rest until it is done.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5B5"/>
                </a:solidFill>
              </a:rPr>
              <a:t>Envisioned by Arijit Singh  ·  Est. 2022  ·  Jiaganj, Murshidabad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2926080" cy="2926080"/>
          </a:xfrm>
          <a:prstGeom prst="ellipse">
            <a:avLst/>
          </a:prstGeom>
          <a:solidFill>
            <a:srgbClr val="2E7D5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1097280" cy="4572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2A83B"/>
                </a:solidFill>
              </a:rPr>
              <a:t>Tatwamasi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457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Youth &amp; Communities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60520" y="1143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5F"/>
                </a:solidFill>
              </a:rPr>
              <a:t>Tatwamasi Foundation is driven by a mission to empower needy and underprivileged youth, children, and communities to realize their true potential.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331720"/>
            <a:ext cx="2194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2331720"/>
            <a:ext cx="64008" cy="10058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D2E"/>
                </a:solidFill>
              </a:rPr>
              <a:t>Education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715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5F"/>
                </a:solidFill>
              </a:rPr>
              <a:t>Affordable, quality learning for all 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37960" y="2331720"/>
            <a:ext cx="2194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331720"/>
            <a:ext cx="64008" cy="10058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D2E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715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5F"/>
                </a:solidFill>
              </a:rPr>
              <a:t>Access to medical support for the needy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60520" y="3474720"/>
            <a:ext cx="2194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0520" y="3474720"/>
            <a:ext cx="64008" cy="10058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D2E"/>
                </a:solidFill>
              </a:rPr>
              <a:t>Sports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5F"/>
                </a:solidFill>
              </a:rPr>
              <a:t>Nurturing athletic talent &amp; discipline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3474720"/>
            <a:ext cx="21945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3474720"/>
            <a:ext cx="64008" cy="10058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D2E"/>
                </a:solidFill>
              </a:rPr>
              <a:t>Arts &amp; Music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858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5F"/>
                </a:solidFill>
              </a:rPr>
              <a:t>Fostering creativity &amp; expression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2B788"/>
                </a:solidFill>
              </a:rPr>
              <a:t>Building impact since 2022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45720" cy="33832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280160"/>
            <a:ext cx="292608" cy="292608"/>
          </a:xfrm>
          <a:prstGeom prst="ellipse">
            <a:avLst/>
          </a:prstGeom>
          <a:solidFill>
            <a:srgbClr val="F2A83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83B"/>
                </a:solidFill>
              </a:rPr>
              <a:t>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188720"/>
            <a:ext cx="7132320" cy="713232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8760" y="1188720"/>
            <a:ext cx="64008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2344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2E"/>
                </a:solidFill>
              </a:rPr>
              <a:t>Foundation Established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5179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Tatwamasi Foundation launched with a vision to serve communities in Murshidabad.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" y="2121408"/>
            <a:ext cx="292608" cy="292608"/>
          </a:xfrm>
          <a:prstGeom prst="ellipse">
            <a:avLst/>
          </a:prstGeom>
          <a:solidFill>
            <a:srgbClr val="F2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83B"/>
                </a:solidFill>
              </a:rPr>
              <a:t>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08760" y="2029968"/>
            <a:ext cx="7132320" cy="713232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08760" y="2029968"/>
            <a:ext cx="64008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20756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2E"/>
                </a:solidFill>
              </a:rPr>
              <a:t>Three Institutes Launched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3591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Aditi Institute of Excellence, Aditi Institute of Sports &amp; Aditi SurSadhanalay all go live.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" y="2962656"/>
            <a:ext cx="292608" cy="292608"/>
          </a:xfrm>
          <a:prstGeom prst="ellipse">
            <a:avLst/>
          </a:prstGeom>
          <a:solidFill>
            <a:srgbClr val="F2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2916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83B"/>
                </a:solidFill>
              </a:rPr>
              <a:t>2024–26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08760" y="2871216"/>
            <a:ext cx="7132320" cy="713232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08760" y="2871216"/>
            <a:ext cx="64008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291693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2E"/>
                </a:solidFill>
              </a:rPr>
              <a:t>Community Growth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320040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Expanding reach, deepening engagement; parallel work on healthcare support — avg. 100+ patients/year.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" y="3803904"/>
            <a:ext cx="292608" cy="292608"/>
          </a:xfrm>
          <a:prstGeom prst="ellipse">
            <a:avLst/>
          </a:prstGeom>
          <a:solidFill>
            <a:srgbClr val="F2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3758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83B"/>
                </a:solidFill>
              </a:rPr>
              <a:t>2027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3712464"/>
            <a:ext cx="7132320" cy="713232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5"/>
          <p:cNvSpPr/>
          <p:nvPr/>
        </p:nvSpPr>
        <p:spPr>
          <a:xfrm>
            <a:off x="1508760" y="3712464"/>
            <a:ext cx="64008" cy="713232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3758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D2E"/>
                </a:solidFill>
              </a:rPr>
              <a:t>School &amp; Hospital Launch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40416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Aditi Vidyaniketan school and integrated healthcare facility open in Jiaganj.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7D5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Vision, Mission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Principles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371600" cy="4572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3931920" cy="1417320"/>
          </a:xfrm>
          <a:prstGeom prst="rect">
            <a:avLst/>
          </a:prstGeom>
          <a:solidFill>
            <a:srgbClr val="2E7D52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83B"/>
                </a:solidFill>
              </a:rPr>
              <a:t>🌍  Vision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E1"/>
                </a:solidFill>
              </a:rPr>
              <a:t>A world where every child — regardless of background — has access to quality education, healthcare, sports, and the arts to reach their fullest potential.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4023360" cy="1417320"/>
          </a:xfrm>
          <a:prstGeom prst="rect">
            <a:avLst/>
          </a:prstGeom>
          <a:solidFill>
            <a:srgbClr val="2E7D52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83B"/>
                </a:solidFill>
              </a:rPr>
              <a:t>🎯  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22128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E1"/>
                </a:solidFill>
              </a:rPr>
              <a:t>To empower underprivileged youth and communities through an integrated platform of education, healthcare, sports, and environmental initiatives.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B788"/>
                </a:solidFill>
              </a:rPr>
              <a:t>Core Principles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993392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16966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Inclusive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256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Serving every child regardless of ability to pay</a:t>
            </a:r>
          </a:p>
        </p:txBody>
      </p:sp>
      <p:sp>
        <p:nvSpPr>
          <p:cNvPr id="16" name="Shape 14"/>
          <p:cNvSpPr/>
          <p:nvPr/>
        </p:nvSpPr>
        <p:spPr>
          <a:xfrm>
            <a:off x="2633472" y="3749040"/>
            <a:ext cx="1993392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33472" y="3822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33472" y="416966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Holistic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/>
              <a:t>Growth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33472" y="44256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Body, mind, and spirit developed together</a:t>
            </a:r>
          </a:p>
        </p:txBody>
      </p:sp>
      <p:sp>
        <p:nvSpPr>
          <p:cNvPr id="20" name="Shape 18"/>
          <p:cNvSpPr/>
          <p:nvPr/>
        </p:nvSpPr>
        <p:spPr>
          <a:xfrm>
            <a:off x="4809744" y="3749040"/>
            <a:ext cx="1993392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9744" y="3822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9744" y="416966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Sustainability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44256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Replicable models built for long-term impact</a:t>
            </a:r>
          </a:p>
        </p:txBody>
      </p:sp>
      <p:sp>
        <p:nvSpPr>
          <p:cNvPr id="24" name="Shape 22"/>
          <p:cNvSpPr/>
          <p:nvPr/>
        </p:nvSpPr>
        <p:spPr>
          <a:xfrm>
            <a:off x="6986016" y="3749040"/>
            <a:ext cx="1993392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86016" y="3822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86016" y="416966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Innovation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6016" y="44256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Rethinking education and community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Education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2B788"/>
                </a:solidFill>
              </a:rPr>
              <a:t>Shaping young minds through innovative education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Aditi Institute of Excellence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D2E"/>
                </a:solidFill>
              </a:rPr>
              <a:t>After-School Support Program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Shaping young minds through innovative education in a supportive environment.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Operating since 2023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English, Maths &amp; Spoken English — Grades 1–9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Digital classrooms with affordable fees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Subsidies for families in need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4160520"/>
            <a:ext cx="1371600" cy="5486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83B"/>
                </a:solidFill>
              </a:rPr>
              <a:t>Since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A83B"/>
                </a:solidFill>
              </a:rPr>
              <a:t>2023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0233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Aditi Vidyaniketan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D2E"/>
                </a:solidFill>
              </a:rPr>
              <a:t>A New-Era CBSE School  ·  Coming 2027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5F"/>
                </a:solidFill>
              </a:rPr>
              <a:t>Rooted in CBSE curriculum, yet far beyond conventional academics — nurturing the whole child intellectually, emotionally, and creatively.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423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Experiential, hands-on &amp; heart-first learning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Celebrates every child on highs and 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Integrates sports, arts, and music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Set in serene Jiaganj, Murshidabad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First-of-its-kind model school in the district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1C1C"/>
                </a:solidFill>
              </a:rPr>
              <a:t>Long-term: replicable across India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4160520"/>
            <a:ext cx="1920240" cy="548640"/>
          </a:xfrm>
          <a:prstGeom prst="rect">
            <a:avLst/>
          </a:prstGeom>
          <a:solidFill>
            <a:srgbClr val="F2A8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C1C"/>
                </a:solidFill>
              </a:rPr>
              <a:t>Launching 2027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🏥  Healthcare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2B788"/>
                </a:solidFill>
              </a:rPr>
              <a:t>Making healthcare accessible &amp; affordable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286000" cy="12344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</a:rPr>
              <a:t>Patients supported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</a:rPr>
              <a:t>per 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051560"/>
            <a:ext cx="5852160" cy="1234440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051560"/>
            <a:ext cx="64008" cy="1234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143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D2E"/>
                </a:solidFill>
              </a:rPr>
              <a:t>Medical Drives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1508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Regular health camps and medical drives to serve underprivileged communities across Jiaganj and surrounding areas. Financial support provided to needy patients who cannot afford healthcare expenses.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2331720"/>
          </a:xfrm>
          <a:prstGeom prst="rect">
            <a:avLst/>
          </a:prstGeom>
          <a:solidFill>
            <a:srgbClr val="FAF7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64008" cy="233172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06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D2E"/>
                </a:solidFill>
              </a:rPr>
              <a:t>🏗️  Upcoming Integrated Hospital &amp; Medical Education Facility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Tatwamasi Foundation proposes an integrated healthcare and medical education facility to make quality healthcare affordable and accessible — reducing the need for patients to travel long distances for advanced treatment.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Structured medical education in the region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Opportunities for local students in healthcare careers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Emergency services within every 70 km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1C1C"/>
                </a:solidFill>
              </a:rPr>
              <a:t>Affordable advanced treatment for all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⚽  Sports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</a:rPr>
              <a:t>Founded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058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</a:rPr>
              <a:t>Student Athletes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</a:rPr>
              <a:t>Football Field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1A4D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B788"/>
                </a:solidFill>
              </a:rPr>
              <a:t>Age Groups (U13·U15·U18)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2743200" cy="5029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🏏  Cricket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U-13 · U-15 · U-18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Technical excellence, game awareness &amp; competitive spirit. Age-specific coaching prepares players for higher levels.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194560"/>
            <a:ext cx="2743200" cy="5029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⚽  Football 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U-13 · U-15 · U-18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Agility, teamwork &amp; strategic thinking. High-energy sessions build stamina and modern football skills.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19456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194560"/>
            <a:ext cx="2743200" cy="5029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🧘  Yoga &amp; Fitness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5F"/>
                </a:solidFill>
              </a:rPr>
              <a:t>Blending traditional yoga with modern fitness. Builds strength, flexibility, mental focus and injury prevention.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62472" y="-73152"/>
            <a:ext cx="3657600" cy="3657600"/>
          </a:xfrm>
          <a:prstGeom prst="ellipse">
            <a:avLst/>
          </a:prstGeom>
          <a:solidFill>
            <a:srgbClr val="2E7D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38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Aditi SurSadhanalay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2A83B"/>
                </a:solidFill>
              </a:rPr>
              <a:t>Arts, Music &amp; Dance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D8"/>
                </a:solidFill>
              </a:rPr>
              <a:t>Fostering artistic expression through music, drama, and dance programs for students.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43700" y="946404"/>
            <a:ext cx="822960" cy="822960"/>
          </a:xfrm>
          <a:prstGeom prst="ellipse">
            <a:avLst/>
          </a:prstGeom>
          <a:solidFill>
            <a:srgbClr val="F2A83B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097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</a:rPr>
              <a:t>150+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</a:rPr>
              <a:t>Annual learners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A83B"/>
                </a:solidFill>
              </a:rPr>
              <a:t>Learners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86600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A83B"/>
                </a:solidFill>
              </a:rPr>
              <a:t>Music Rooms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35240" y="905256"/>
            <a:ext cx="822960" cy="822960"/>
          </a:xfrm>
          <a:prstGeom prst="ellipse">
            <a:avLst/>
          </a:prstGeom>
          <a:solidFill>
            <a:srgbClr val="F2A8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7655052" y="11871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1C"/>
                </a:solidFill>
              </a:rPr>
              <a:t>5+ creative expression avenues</a:t>
            </a:r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2A83B"/>
                </a:solidFill>
              </a:rPr>
              <a:t>Disciplines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2697480" cy="1371600"/>
          </a:xfrm>
          <a:prstGeom prst="rect">
            <a:avLst/>
          </a:prstGeom>
          <a:solidFill>
            <a:srgbClr val="2E7D5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28800"/>
            <a:ext cx="64008" cy="13716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Vocal Classes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C8"/>
                </a:solidFill>
              </a:rPr>
              <a:t>Classical &amp; contemporary singing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828800"/>
            <a:ext cx="2697480" cy="1371600"/>
          </a:xfrm>
          <a:prstGeom prst="rect">
            <a:avLst/>
          </a:prstGeom>
          <a:solidFill>
            <a:srgbClr val="2E7D5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828800"/>
            <a:ext cx="64008" cy="13716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8620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Indian Instruments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C8"/>
                </a:solidFill>
              </a:rPr>
              <a:t>Tabla &amp; Sitar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2697480" cy="1371600"/>
          </a:xfrm>
          <a:prstGeom prst="rect">
            <a:avLst/>
          </a:prstGeom>
          <a:solidFill>
            <a:srgbClr val="2E7D5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828800"/>
            <a:ext cx="64008" cy="13716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🎸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1938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Western Instruments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C8"/>
                </a:solidFill>
              </a:rPr>
              <a:t>Guitar (Bass &amp; Acoustic), Drums, Piano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2697480" cy="1371600"/>
          </a:xfrm>
          <a:prstGeom prst="rect">
            <a:avLst/>
          </a:prstGeom>
          <a:solidFill>
            <a:srgbClr val="2E7D5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383280"/>
            <a:ext cx="64008" cy="13716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493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💃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0584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C8"/>
                </a:solidFill>
              </a:rPr>
              <a:t>Contemporary &amp; Classical styles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3383280"/>
            <a:ext cx="2697480" cy="1371600"/>
          </a:xfrm>
          <a:prstGeom prst="rect">
            <a:avLst/>
          </a:prstGeom>
          <a:solidFill>
            <a:srgbClr val="2E7D5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3383280"/>
            <a:ext cx="64008" cy="13716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493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88620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Theatre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862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C8"/>
                </a:solidFill>
              </a:rPr>
              <a:t>Drama &amp; performance arts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2E7D5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2B788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A8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Change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E6D8"/>
                </a:solidFill>
              </a:rPr>
              <a:t>Partner with Tatwamasi Foundation to transform lives across Jiaganj, Murshidabad — and eventually, across India.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01168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83B"/>
                </a:solidFill>
              </a:rPr>
              <a:t>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673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Scaling schools &amp; after-school support</a:t>
            </a:r>
          </a:p>
        </p:txBody>
      </p:sp>
      <p:sp>
        <p:nvSpPr>
          <p:cNvPr id="11" name="Shape 9"/>
          <p:cNvSpPr/>
          <p:nvPr/>
        </p:nvSpPr>
        <p:spPr>
          <a:xfrm>
            <a:off x="2633472" y="3017520"/>
            <a:ext cx="201168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83B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37673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Building the integrated hospital</a:t>
            </a:r>
          </a:p>
        </p:txBody>
      </p:sp>
      <p:sp>
        <p:nvSpPr>
          <p:cNvPr id="15" name="Shape 13"/>
          <p:cNvSpPr/>
          <p:nvPr/>
        </p:nvSpPr>
        <p:spPr>
          <a:xfrm>
            <a:off x="4809744" y="3017520"/>
            <a:ext cx="201168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9744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83B"/>
                </a:solidFill>
              </a:rPr>
              <a:t>Sports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37673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Expanding athletic programs &amp; infrastructure</a:t>
            </a:r>
          </a:p>
        </p:txBody>
      </p:sp>
      <p:sp>
        <p:nvSpPr>
          <p:cNvPr id="19" name="Shape 17"/>
          <p:cNvSpPr/>
          <p:nvPr/>
        </p:nvSpPr>
        <p:spPr>
          <a:xfrm>
            <a:off x="6986016" y="3017520"/>
            <a:ext cx="2011680" cy="14173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86016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86016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83B"/>
                </a:solidFill>
              </a:rPr>
              <a:t>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6016" y="37673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Growing creative learning &amp; expression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9A80"/>
                </a:solidFill>
              </a:rPr>
              <a:t>tatwamasi.foundation  ·  Jiaganj, Murshidabad, West Bengal  ·  Envisioned by Arijit Singh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10521</TotalTime>
  <Words>751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Tatwamasi Foundation – Investor Pitch Deck</dc:title>
  <dc:subject>PptxGenJS Presentation</dc:subject>
  <dc:creator>PptxGenJS</dc:creator>
  <cp:lastModifiedBy>LENOVO</cp:lastModifiedBy>
  <cp:revision>2</cp:revision>
  <dcterms:created xsi:type="dcterms:W3CDTF">2026-04-17T08:04:44Z</dcterms:created>
  <dcterms:modified xsi:type="dcterms:W3CDTF">2026-04-24T15:28:59Z</dcterms:modified>
</cp:coreProperties>
</file>